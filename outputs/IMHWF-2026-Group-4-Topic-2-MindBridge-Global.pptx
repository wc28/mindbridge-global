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2a7b3a70b44f60" /><Relationship Type="http://schemas.openxmlformats.org/officeDocument/2006/relationships/extended-properties" Target="/docProps/app.xml" Id="Rd83a31d2539748fa" /><Relationship Type="http://schemas.openxmlformats.org/officeDocument/2006/relationships/officeDocument" Target="/ppt/presentation.xml" Id="R9053691c5518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919a517a8c4d96"/>
  </p:sldMasterIdLst>
  <p:notesMasterIdLst>
    <p:notesMasterId xmlns:r="http://schemas.openxmlformats.org/officeDocument/2006/relationships" r:id="R2d5597004c5a4ee1"/>
  </p:notesMasterIdLst>
  <p:sldIdLst>
    <p:sldId xmlns:r="http://schemas.openxmlformats.org/officeDocument/2006/relationships" id="256" r:id="Rb193a510d1594af2"/>
    <p:sldId xmlns:r="http://schemas.openxmlformats.org/officeDocument/2006/relationships" id="257" r:id="R6892b2ca9d2743a7"/>
    <p:sldId xmlns:r="http://schemas.openxmlformats.org/officeDocument/2006/relationships" id="258" r:id="R1a50536fbf2b4d90"/>
    <p:sldId xmlns:r="http://schemas.openxmlformats.org/officeDocument/2006/relationships" id="259" r:id="Rffcf979f9ec241ea"/>
    <p:sldId xmlns:r="http://schemas.openxmlformats.org/officeDocument/2006/relationships" id="260" r:id="Rcdf847c25dd542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754ff13a5547db" /><Relationship Type="http://schemas.openxmlformats.org/officeDocument/2006/relationships/slideMaster" Target="/ppt/slideMasters/slideMaster1.xml" Id="R30919a517a8c4d96" /><Relationship Type="http://schemas.openxmlformats.org/officeDocument/2006/relationships/notesMaster" Target="/ppt/notesMasters/notesMaster1.xml" Id="R2d5597004c5a4ee1" /><Relationship Type="http://schemas.openxmlformats.org/officeDocument/2006/relationships/presProps" Target="/ppt/presProps.xml" Id="Rf38f80c3fde746c7" /><Relationship Type="http://schemas.openxmlformats.org/officeDocument/2006/relationships/tableStyles" Target="/ppt/tableStyles.xml" Id="Rab8e9fb1309c46d9" /><Relationship Type="http://schemas.openxmlformats.org/officeDocument/2006/relationships/slide" Target="/ppt/slides/slide1.xml" Id="Rb193a510d1594af2" /><Relationship Type="http://schemas.openxmlformats.org/officeDocument/2006/relationships/slide" Target="/ppt/slides/slide2.xml" Id="R6892b2ca9d2743a7" /><Relationship Type="http://schemas.openxmlformats.org/officeDocument/2006/relationships/slide" Target="/ppt/slides/slide3.xml" Id="R1a50536fbf2b4d90" /><Relationship Type="http://schemas.openxmlformats.org/officeDocument/2006/relationships/slide" Target="/ppt/slides/slide4.xml" Id="Rffcf979f9ec241ea" /><Relationship Type="http://schemas.openxmlformats.org/officeDocument/2006/relationships/slide" Target="/ppt/slides/slide5.xml" Id="Rcdf847c25dd5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9122ca511a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732feaf5ed4a4a" /><Relationship Type="http://schemas.openxmlformats.org/officeDocument/2006/relationships/notesMaster" Target="/ppt/notesMasters/notesMaster1.xml" Id="R3c13f927d86348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e04c9c9f6b496d" /><Relationship Type="http://schemas.openxmlformats.org/officeDocument/2006/relationships/notesMaster" Target="/ppt/notesMasters/notesMaster1.xml" Id="Rb3ed876578394a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8342426cdc4fc1" /><Relationship Type="http://schemas.openxmlformats.org/officeDocument/2006/relationships/notesMaster" Target="/ppt/notesMasters/notesMaster1.xml" Id="R5f2ecc7f695d44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e1f6644ff1476f" /><Relationship Type="http://schemas.openxmlformats.org/officeDocument/2006/relationships/notesMaster" Target="/ppt/notesMasters/notesMaster1.xml" Id="Rd702756a4b9e4e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002a842cab493b" /><Relationship Type="http://schemas.openxmlformats.org/officeDocument/2006/relationships/notesMaster" Target="/ppt/notesMasters/notesMaster1.xml" Id="Rafc2ffc01fc84d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90065b9ee41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22dbd0863e4cac" /><Relationship Type="http://schemas.openxmlformats.org/officeDocument/2006/relationships/slideLayout" Target="/ppt/slideLayouts/slideLayout1.xml" Id="Re5f891bbbb18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f891bbbb18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df6b8795c4163" /><Relationship Type="http://schemas.openxmlformats.org/officeDocument/2006/relationships/image" Target="/ppt/media/image.png" Id="R4a130a64f13d4fd2" /><Relationship Type="http://schemas.openxmlformats.org/officeDocument/2006/relationships/notesSlide" Target="/ppt/notesSlides/notesSlide1.xml" Id="R41cc13efc28744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366ec55f04f00" /><Relationship Type="http://schemas.openxmlformats.org/officeDocument/2006/relationships/notesSlide" Target="/ppt/notesSlides/notesSlide2.xml" Id="R33da25ac5cf84f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b766de23f4783" /><Relationship Type="http://schemas.openxmlformats.org/officeDocument/2006/relationships/notesSlide" Target="/ppt/notesSlides/notesSlide3.xml" Id="R2594180c1db74f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8472373cd4d9d" /><Relationship Type="http://schemas.openxmlformats.org/officeDocument/2006/relationships/notesSlide" Target="/ppt/notesSlides/notesSlide4.xml" Id="Rf043a83d1e5e49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5ed6c52164879" /><Relationship Type="http://schemas.openxmlformats.org/officeDocument/2006/relationships/notesSlide" Target="/ppt/notesSlides/notesSlide5.xml" Id="R066dc1088dca4f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">
            <a:extLst xmlns:a="http://schemas.openxmlformats.org/drawingml/2006/main">
              <a:ext uri="{FF2B5EF4-FFF2-40B4-BE49-F238E27FC236}">
                <a16:creationId xmlns:a16="http://schemas.microsoft.com/office/drawing/2014/main" id="{EEBF05DB-E88F-4404-BA76-C52BCFC4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OPENING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07387CBF-479B-4A20-961D-F92ABC0A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rule-60-60">
            <a:extLst xmlns:a="http://schemas.openxmlformats.org/drawingml/2006/main">
              <a:ext uri="{FF2B5EF4-FFF2-40B4-BE49-F238E27FC236}">
                <a16:creationId xmlns:a16="http://schemas.microsoft.com/office/drawing/2014/main" id="{2F202942-160A-4968-B923-B6BA90D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B9BF091-EB46-443F-88A2-138EDB95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IMHWF 2026 Group 4 | Topic 2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0D9F491-477C-46F4-9220-53E31D7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953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Elevating Mental Health Care Through a Human-Centered Digital Ecosystem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D709F13-1257-4C7C-9DA7-79986CB3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MindBridge Global is a practical continuity-of-care model that keeps safety, privacy, and human oversight at the center.</a:t>
            </a:r>
          </a:p>
        </p:txBody>
      </p:sp>
      <p:sp>
        <p:nvSpPr>
          <p:cNvPr id="7" name="cover-topic">
            <a:extLst xmlns:a="http://schemas.openxmlformats.org/drawingml/2006/main">
              <a:ext uri="{FF2B5EF4-FFF2-40B4-BE49-F238E27FC236}">
                <a16:creationId xmlns:a16="http://schemas.microsoft.com/office/drawing/2014/main" id="{7E9AA45C-B027-4F51-9A03-5F63DA05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Innovations in Mental Health Care and Treatment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30a64f13d4fd2"/>
          <a:stretch xmlns:a="http://schemas.openxmlformats.org/drawingml/2006/main"/>
        </p:blipFill>
        <p:spPr>
          <a:xfrm xmlns:a="http://schemas.openxmlformats.org/drawingml/2006/main">
            <a:off x="8875880" y="876300"/>
            <a:ext cx="2060239" cy="2095500"/>
          </a:xfrm>
          <a:prstGeom xmlns:a="http://schemas.openxmlformats.org/drawingml/2006/main" prst="rect">
            <a:avLst/>
          </a:prstGeom>
        </p:spPr>
      </p:pic>
      <p:sp>
        <p:nvSpPr>
          <p:cNvPr id="9" name="tag-1">
            <a:extLst xmlns:a="http://schemas.openxmlformats.org/drawingml/2006/main">
              <a:ext uri="{FF2B5EF4-FFF2-40B4-BE49-F238E27FC236}">
                <a16:creationId xmlns:a16="http://schemas.microsoft.com/office/drawing/2014/main" id="{530939F8-8BBD-4E76-BDB6-3EE92362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27622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10" name="tag-text-1">
            <a:extLst xmlns:a="http://schemas.openxmlformats.org/drawingml/2006/main">
              <a:ext uri="{FF2B5EF4-FFF2-40B4-BE49-F238E27FC236}">
                <a16:creationId xmlns:a16="http://schemas.microsoft.com/office/drawing/2014/main" id="{C67F5801-21B5-4BC0-9E87-2491E87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9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WHO aligned</a:t>
            </a:r>
          </a:p>
        </p:txBody>
      </p:sp>
      <p:sp>
        <p:nvSpPr>
          <p:cNvPr id="11" name="tag-2">
            <a:extLst xmlns:a="http://schemas.openxmlformats.org/drawingml/2006/main">
              <a:ext uri="{FF2B5EF4-FFF2-40B4-BE49-F238E27FC236}">
                <a16:creationId xmlns:a16="http://schemas.microsoft.com/office/drawing/2014/main" id="{FAAF7C34-400B-4F11-B632-39CC5CAF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27622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12" name="tag-text-2">
            <a:extLst xmlns:a="http://schemas.openxmlformats.org/drawingml/2006/main">
              <a:ext uri="{FF2B5EF4-FFF2-40B4-BE49-F238E27FC236}">
                <a16:creationId xmlns:a16="http://schemas.microsoft.com/office/drawing/2014/main" id="{65836E3A-3883-425F-A60E-EDC71CDE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Privacy by design</a:t>
            </a:r>
          </a:p>
        </p:txBody>
      </p:sp>
      <p:sp>
        <p:nvSpPr>
          <p:cNvPr id="13" name="tag-3">
            <a:extLst xmlns:a="http://schemas.openxmlformats.org/drawingml/2006/main">
              <a:ext uri="{FF2B5EF4-FFF2-40B4-BE49-F238E27FC236}">
                <a16:creationId xmlns:a16="http://schemas.microsoft.com/office/drawing/2014/main" id="{9B40E825-BB57-4D56-A70E-BE8E03E2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27622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14" name="tag-text-3">
            <a:extLst xmlns:a="http://schemas.openxmlformats.org/drawingml/2006/main">
              <a:ext uri="{FF2B5EF4-FFF2-40B4-BE49-F238E27FC236}">
                <a16:creationId xmlns:a16="http://schemas.microsoft.com/office/drawing/2014/main" id="{845C73C5-D560-409B-B913-EC60C64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14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Human oversight</a:t>
            </a:r>
          </a:p>
        </p:txBody>
      </p:sp>
      <p:sp>
        <p:nvSpPr>
          <p:cNvPr id="15" name="team-band">
            <a:extLst xmlns:a="http://schemas.openxmlformats.org/drawingml/2006/main">
              <a:ext uri="{FF2B5EF4-FFF2-40B4-BE49-F238E27FC236}">
                <a16:creationId xmlns:a16="http://schemas.microsoft.com/office/drawing/2014/main" id="{04E771C8-3107-400A-9A27-6F904FF2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1049000" cy="1295400"/>
          </a:xfrm>
          <a:prstGeom xmlns:a="http://schemas.openxmlformats.org/drawingml/2006/main" prst="roundRect">
            <a:avLst>
              <a:gd name="adj" fmla="val 1911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6" name="team-label">
            <a:extLst xmlns:a="http://schemas.openxmlformats.org/drawingml/2006/main">
              <a:ext uri="{FF2B5EF4-FFF2-40B4-BE49-F238E27FC236}">
                <a16:creationId xmlns:a16="http://schemas.microsoft.com/office/drawing/2014/main" id="{F39AE9A2-80D1-41D9-B6B6-0A8C6CF4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Faculty and team</a:t>
            </a:r>
          </a:p>
        </p:txBody>
      </p:sp>
      <p:sp>
        <p:nvSpPr>
          <p:cNvPr id="17" name="team-left">
            <a:extLst xmlns:a="http://schemas.openxmlformats.org/drawingml/2006/main">
              <a:ext uri="{FF2B5EF4-FFF2-40B4-BE49-F238E27FC236}">
                <a16:creationId xmlns:a16="http://schemas.microsoft.com/office/drawing/2014/main" id="{3365DE80-CE2E-4864-BD96-91A3FA4A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Ms. Sadia Hashmi | Psychotherapist / Counselor, PACT, Pakistan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Miss Witthirasa Chaemphichanyotin | Psychiatric Social Worker, Nakhon Ratchasima Rajanagarindra Psychiatric Hospital, Thailand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Yuanruo Xu | China</a:t>
            </a:r>
          </a:p>
        </p:txBody>
      </p:sp>
      <p:sp>
        <p:nvSpPr>
          <p:cNvPr id="18" name="team-right">
            <a:extLst xmlns:a="http://schemas.openxmlformats.org/drawingml/2006/main">
              <a:ext uri="{FF2B5EF4-FFF2-40B4-BE49-F238E27FC236}">
                <a16:creationId xmlns:a16="http://schemas.microsoft.com/office/drawing/2014/main" id="{4954C568-2DCB-4379-AD1A-BA15E9E0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626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Dr. Madhu Vamsi Ganduri | Psychiatrist, MV Health India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Assoc. Prof. Yuchen Li | Mental Health Center, West China Hospital, Sichuan University, China</a:t>
            </a:r>
          </a:p>
        </p:txBody>
      </p:sp>
    </p:spTree>
    <p:extLst>
      <p:ext uri="{BB962C8B-B14F-4D97-AF65-F5344CB8AC3E}">
        <p14:creationId xmlns:p14="http://schemas.microsoft.com/office/powerpoint/2010/main" val="2059082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DECED2F4-0532-4C6A-9D6A-34416670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ECEDBFBD-9116-4ADF-B514-09079261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rule-60-60">
            <a:extLst xmlns:a="http://schemas.openxmlformats.org/drawingml/2006/main">
              <a:ext uri="{FF2B5EF4-FFF2-40B4-BE49-F238E27FC236}">
                <a16:creationId xmlns:a16="http://schemas.microsoft.com/office/drawing/2014/main" id="{7DEBA656-0ED6-4B6F-9CB2-334CFD36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4" name="why-title">
            <a:extLst xmlns:a="http://schemas.openxmlformats.org/drawingml/2006/main">
              <a:ext uri="{FF2B5EF4-FFF2-40B4-BE49-F238E27FC236}">
                <a16:creationId xmlns:a16="http://schemas.microsoft.com/office/drawing/2014/main" id="{C642B0B1-A42B-4B8B-ADEC-B8DB27C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Continuity gaps are hurting patients and exhausting mental health teams</a:t>
            </a:r>
          </a:p>
        </p:txBody>
      </p:sp>
      <p:sp>
        <p:nvSpPr>
          <p:cNvPr id="5" name="why-intro">
            <a:extLst xmlns:a="http://schemas.openxmlformats.org/drawingml/2006/main">
              <a:ext uri="{FF2B5EF4-FFF2-40B4-BE49-F238E27FC236}">
                <a16:creationId xmlns:a16="http://schemas.microsoft.com/office/drawing/2014/main" id="{3EBB4AA0-D76C-4C23-B55B-31533477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The pressure is not only rising demand. It is the combination of fragmented information, delayed triage, and weak follow-up across the care journey.</a:t>
            </a:r>
          </a:p>
        </p:txBody>
      </p:sp>
      <p:sp>
        <p:nvSpPr>
          <p:cNvPr id="6" name="why-card-1">
            <a:extLst xmlns:a="http://schemas.openxmlformats.org/drawingml/2006/main">
              <a:ext uri="{FF2B5EF4-FFF2-40B4-BE49-F238E27FC236}">
                <a16:creationId xmlns:a16="http://schemas.microsoft.com/office/drawing/2014/main" id="{E78D4CFD-8E1F-4913-9653-65CA34A6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429250" cy="18288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why-card-title-1">
            <a:extLst xmlns:a="http://schemas.openxmlformats.org/drawingml/2006/main">
              <a:ext uri="{FF2B5EF4-FFF2-40B4-BE49-F238E27FC236}">
                <a16:creationId xmlns:a16="http://schemas.microsoft.com/office/drawing/2014/main" id="{9D8B2796-8B2B-46F9-90B6-1DCFAD94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Rising demand and staff burnout</a:t>
            </a:r>
          </a:p>
        </p:txBody>
      </p:sp>
      <p:sp>
        <p:nvSpPr>
          <p:cNvPr id="8" name="why-card-copy-1">
            <a:extLst xmlns:a="http://schemas.openxmlformats.org/drawingml/2006/main">
              <a:ext uri="{FF2B5EF4-FFF2-40B4-BE49-F238E27FC236}">
                <a16:creationId xmlns:a16="http://schemas.microsoft.com/office/drawing/2014/main" id="{CF131F73-81AE-4CA4-B9E1-4EF65685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Specialist teams are stretched, leaving less time for direct patient and family care when complexity keeps increasing.</a:t>
            </a:r>
          </a:p>
        </p:txBody>
      </p:sp>
      <p:sp>
        <p:nvSpPr>
          <p:cNvPr id="9" name="why-card-2">
            <a:extLst xmlns:a="http://schemas.openxmlformats.org/drawingml/2006/main">
              <a:ext uri="{FF2B5EF4-FFF2-40B4-BE49-F238E27FC236}">
                <a16:creationId xmlns:a16="http://schemas.microsoft.com/office/drawing/2014/main" id="{35B0DC77-7265-41DE-9224-D3723E89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429250" cy="18288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why-card-title-2">
            <a:extLst xmlns:a="http://schemas.openxmlformats.org/drawingml/2006/main">
              <a:ext uri="{FF2B5EF4-FFF2-40B4-BE49-F238E27FC236}">
                <a16:creationId xmlns:a16="http://schemas.microsoft.com/office/drawing/2014/main" id="{9CB035CD-47B7-42BE-8980-D8BCE32D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Long waiting lists hide urgent need</a:t>
            </a:r>
          </a:p>
        </p:txBody>
      </p:sp>
      <p:sp>
        <p:nvSpPr>
          <p:cNvPr id="11" name="why-card-copy-2">
            <a:extLst xmlns:a="http://schemas.openxmlformats.org/drawingml/2006/main">
              <a:ext uri="{FF2B5EF4-FFF2-40B4-BE49-F238E27FC236}">
                <a16:creationId xmlns:a16="http://schemas.microsoft.com/office/drawing/2014/main" id="{50212A1F-68C4-4BB3-BA77-09AC25DA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337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Frontline teams often cannot see early warning signs quickly enough, so wait time can conceal high-risk situations.</a:t>
            </a:r>
          </a:p>
        </p:txBody>
      </p:sp>
      <p:sp>
        <p:nvSpPr>
          <p:cNvPr id="12" name="why-card-3">
            <a:extLst xmlns:a="http://schemas.openxmlformats.org/drawingml/2006/main">
              <a:ext uri="{FF2B5EF4-FFF2-40B4-BE49-F238E27FC236}">
                <a16:creationId xmlns:a16="http://schemas.microsoft.com/office/drawing/2014/main" id="{CE90E0F1-5114-4EFA-AC59-52838B1B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5429250" cy="18288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why-card-title-3">
            <a:extLst xmlns:a="http://schemas.openxmlformats.org/drawingml/2006/main">
              <a:ext uri="{FF2B5EF4-FFF2-40B4-BE49-F238E27FC236}">
                <a16:creationId xmlns:a16="http://schemas.microsoft.com/office/drawing/2014/main" id="{58E5F185-5FFB-4EE7-9C59-8DD5D2A4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Fragmented communication</a:t>
            </a:r>
          </a:p>
        </p:txBody>
      </p:sp>
      <p:sp>
        <p:nvSpPr>
          <p:cNvPr id="14" name="why-card-copy-3">
            <a:extLst xmlns:a="http://schemas.openxmlformats.org/drawingml/2006/main">
              <a:ext uri="{FF2B5EF4-FFF2-40B4-BE49-F238E27FC236}">
                <a16:creationId xmlns:a16="http://schemas.microsoft.com/office/drawing/2014/main" id="{991D4AE1-CB50-42B8-A0AD-D38C5A9C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Clinical, psychosocial, and community actions are often documented in separate places with limited shared visibility.</a:t>
            </a:r>
          </a:p>
        </p:txBody>
      </p:sp>
      <p:sp>
        <p:nvSpPr>
          <p:cNvPr id="15" name="why-card-4">
            <a:extLst xmlns:a="http://schemas.openxmlformats.org/drawingml/2006/main">
              <a:ext uri="{FF2B5EF4-FFF2-40B4-BE49-F238E27FC236}">
                <a16:creationId xmlns:a16="http://schemas.microsoft.com/office/drawing/2014/main" id="{81607EFC-25B8-40CB-AA9B-A10EDE31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5429250" cy="18288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6" name="why-card-title-4">
            <a:extLst xmlns:a="http://schemas.openxmlformats.org/drawingml/2006/main">
              <a:ext uri="{FF2B5EF4-FFF2-40B4-BE49-F238E27FC236}">
                <a16:creationId xmlns:a16="http://schemas.microsoft.com/office/drawing/2014/main" id="{9911AD10-839F-4BF2-8DE3-50D7B31C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Weak post-discharge follow-up</a:t>
            </a:r>
          </a:p>
        </p:txBody>
      </p:sp>
      <p:sp>
        <p:nvSpPr>
          <p:cNvPr id="17" name="why-card-copy-4">
            <a:extLst xmlns:a="http://schemas.openxmlformats.org/drawingml/2006/main">
              <a:ext uri="{FF2B5EF4-FFF2-40B4-BE49-F238E27FC236}">
                <a16:creationId xmlns:a16="http://schemas.microsoft.com/office/drawing/2014/main" id="{2D1FA1F2-2206-4AEF-A503-566C6731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435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Transitions to community care remain vulnerable when responsibilities, consent boundaries, and referral closure are unclear.</a:t>
            </a:r>
          </a:p>
        </p:txBody>
      </p:sp>
      <p:sp>
        <p:nvSpPr>
          <p:cNvPr id="18" name="why-footer">
            <a:extLst xmlns:a="http://schemas.openxmlformats.org/drawingml/2006/main">
              <a:ext uri="{FF2B5EF4-FFF2-40B4-BE49-F238E27FC236}">
                <a16:creationId xmlns:a16="http://schemas.microsoft.com/office/drawing/2014/main" id="{59A4D8EF-D128-4FC4-AFED-E05DBC9E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8C91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8C9198"/>
                </a:solidFill>
                <a:latin typeface="Helvetica Neue"/>
                <a:ea typeface="Helvetica Neue"/>
                <a:cs typeface="Helvetica Neue"/>
              </a:rPr>
              <a:t>Repeated assessments and limited psychosocial data make these gaps harder to solve at scale.</a:t>
            </a:r>
          </a:p>
        </p:txBody>
      </p:sp>
    </p:spTree>
    <p:extLst>
      <p:ext uri="{BB962C8B-B14F-4D97-AF65-F5344CB8AC3E}">
        <p14:creationId xmlns:p14="http://schemas.microsoft.com/office/powerpoint/2010/main" val="2093911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26B0CA7C-0608-4FF8-A8D3-DDE2A1AF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44694A6E-6289-43A0-9103-BD736B60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rule-60-60">
            <a:extLst xmlns:a="http://schemas.openxmlformats.org/drawingml/2006/main">
              <a:ext uri="{FF2B5EF4-FFF2-40B4-BE49-F238E27FC236}">
                <a16:creationId xmlns:a16="http://schemas.microsoft.com/office/drawing/2014/main" id="{27D0B7C6-0EFF-4B93-8F60-67D17194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4" name="model-title">
            <a:extLst xmlns:a="http://schemas.openxmlformats.org/drawingml/2006/main">
              <a:ext uri="{FF2B5EF4-FFF2-40B4-BE49-F238E27FC236}">
                <a16:creationId xmlns:a16="http://schemas.microsoft.com/office/drawing/2014/main" id="{E75E2016-F257-436F-9BC7-D24156EE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Four connected components turn fragmented services into one shared pathway</a:t>
            </a:r>
          </a:p>
        </p:txBody>
      </p:sp>
      <p:sp>
        <p:nvSpPr>
          <p:cNvPr id="5" name="model-intro">
            <a:extLst xmlns:a="http://schemas.openxmlformats.org/drawingml/2006/main">
              <a:ext uri="{FF2B5EF4-FFF2-40B4-BE49-F238E27FC236}">
                <a16:creationId xmlns:a16="http://schemas.microsoft.com/office/drawing/2014/main" id="{A04F4DC2-C31F-4D85-AC79-697BA0BF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The design starts with affordable workflow tools, then grows into a stronger governance and interoperability model over time.</a:t>
            </a:r>
          </a:p>
        </p:txBody>
      </p:sp>
      <p:sp>
        <p:nvSpPr>
          <p:cNvPr id="6" name="component-card-1">
            <a:extLst xmlns:a="http://schemas.openxmlformats.org/drawingml/2006/main">
              <a:ext uri="{FF2B5EF4-FFF2-40B4-BE49-F238E27FC236}">
                <a16:creationId xmlns:a16="http://schemas.microsoft.com/office/drawing/2014/main" id="{66EE3C33-7C5C-42A8-926C-0DFABFA2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429250" cy="18288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component-badge-1">
            <a:extLst xmlns:a="http://schemas.openxmlformats.org/drawingml/2006/main">
              <a:ext uri="{FF2B5EF4-FFF2-40B4-BE49-F238E27FC236}">
                <a16:creationId xmlns:a16="http://schemas.microsoft.com/office/drawing/2014/main" id="{93724C5E-1A1D-4F90-B0BC-469FE460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component-badge-text-1">
            <a:extLst xmlns:a="http://schemas.openxmlformats.org/drawingml/2006/main">
              <a:ext uri="{FF2B5EF4-FFF2-40B4-BE49-F238E27FC236}">
                <a16:creationId xmlns:a16="http://schemas.microsoft.com/office/drawing/2014/main" id="{F1877D81-7FCF-4648-A169-2BA1DE4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component-title-1">
            <a:extLst xmlns:a="http://schemas.openxmlformats.org/drawingml/2006/main">
              <a:ext uri="{FF2B5EF4-FFF2-40B4-BE49-F238E27FC236}">
                <a16:creationId xmlns:a16="http://schemas.microsoft.com/office/drawing/2014/main" id="{80BD9044-E4A0-4EA9-AC79-37E7B99F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6220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Automated pre-session check-ins</a:t>
            </a:r>
          </a:p>
        </p:txBody>
      </p:sp>
      <p:sp>
        <p:nvSpPr>
          <p:cNvPr id="10" name="component-copy-1">
            <a:extLst xmlns:a="http://schemas.openxmlformats.org/drawingml/2006/main">
              <a:ext uri="{FF2B5EF4-FFF2-40B4-BE49-F238E27FC236}">
                <a16:creationId xmlns:a16="http://schemas.microsoft.com/office/drawing/2014/main" id="{9B5CF13D-F3B6-45D0-9B62-A805A708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Structured intake captures concerns, symptoms, barriers, and support context before or at contact with services.</a:t>
            </a:r>
          </a:p>
        </p:txBody>
      </p:sp>
      <p:sp>
        <p:nvSpPr>
          <p:cNvPr id="11" name="component-card-2">
            <a:extLst xmlns:a="http://schemas.openxmlformats.org/drawingml/2006/main">
              <a:ext uri="{FF2B5EF4-FFF2-40B4-BE49-F238E27FC236}">
                <a16:creationId xmlns:a16="http://schemas.microsoft.com/office/drawing/2014/main" id="{0A34EA38-5F19-4DBF-A47F-0C86DF64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429250" cy="18288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component-badge-2">
            <a:extLst xmlns:a="http://schemas.openxmlformats.org/drawingml/2006/main">
              <a:ext uri="{FF2B5EF4-FFF2-40B4-BE49-F238E27FC236}">
                <a16:creationId xmlns:a16="http://schemas.microsoft.com/office/drawing/2014/main" id="{86962ED8-2CB0-46E4-BB52-8B21660E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3" name="component-badge-text-2">
            <a:extLst xmlns:a="http://schemas.openxmlformats.org/drawingml/2006/main">
              <a:ext uri="{FF2B5EF4-FFF2-40B4-BE49-F238E27FC236}">
                <a16:creationId xmlns:a16="http://schemas.microsoft.com/office/drawing/2014/main" id="{324C804E-3495-47AF-8D57-AEF0E12D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component-title-2">
            <a:extLst xmlns:a="http://schemas.openxmlformats.org/drawingml/2006/main">
              <a:ext uri="{FF2B5EF4-FFF2-40B4-BE49-F238E27FC236}">
                <a16:creationId xmlns:a16="http://schemas.microsoft.com/office/drawing/2014/main" id="{B1115110-31ED-4EE6-9A16-7AA52CE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220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AI-assisted risk screening</a:t>
            </a:r>
          </a:p>
        </p:txBody>
      </p:sp>
      <p:sp>
        <p:nvSpPr>
          <p:cNvPr id="15" name="component-copy-2">
            <a:extLst xmlns:a="http://schemas.openxmlformats.org/drawingml/2006/main">
              <a:ext uri="{FF2B5EF4-FFF2-40B4-BE49-F238E27FC236}">
                <a16:creationId xmlns:a16="http://schemas.microsoft.com/office/drawing/2014/main" id="{6C572289-3454-4B82-B820-0C91DDB2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Decision support helps surface safety and psychosocial risk patterns under clinician review, not instead of it.</a:t>
            </a:r>
          </a:p>
        </p:txBody>
      </p:sp>
      <p:sp>
        <p:nvSpPr>
          <p:cNvPr id="16" name="component-card-3">
            <a:extLst xmlns:a="http://schemas.openxmlformats.org/drawingml/2006/main">
              <a:ext uri="{FF2B5EF4-FFF2-40B4-BE49-F238E27FC236}">
                <a16:creationId xmlns:a16="http://schemas.microsoft.com/office/drawing/2014/main" id="{E99D9D34-B4CC-424E-B777-34105D5B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5429250" cy="18288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component-badge-3">
            <a:extLst xmlns:a="http://schemas.openxmlformats.org/drawingml/2006/main">
              <a:ext uri="{FF2B5EF4-FFF2-40B4-BE49-F238E27FC236}">
                <a16:creationId xmlns:a16="http://schemas.microsoft.com/office/drawing/2014/main" id="{03BB8476-E941-4D73-B4EF-E8B080F3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8" name="component-badge-text-3">
            <a:extLst xmlns:a="http://schemas.openxmlformats.org/drawingml/2006/main">
              <a:ext uri="{FF2B5EF4-FFF2-40B4-BE49-F238E27FC236}">
                <a16:creationId xmlns:a16="http://schemas.microsoft.com/office/drawing/2014/main" id="{058DA65F-4171-4031-ACD1-EE62CDB7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component-title-3">
            <a:extLst xmlns:a="http://schemas.openxmlformats.org/drawingml/2006/main">
              <a:ext uri="{FF2B5EF4-FFF2-40B4-BE49-F238E27FC236}">
                <a16:creationId xmlns:a16="http://schemas.microsoft.com/office/drawing/2014/main" id="{28D42751-E8F5-44CB-A4A5-9A57D60D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Shared MDT and community hub</a:t>
            </a:r>
          </a:p>
        </p:txBody>
      </p:sp>
      <p:sp>
        <p:nvSpPr>
          <p:cNvPr id="20" name="component-copy-3">
            <a:extLst xmlns:a="http://schemas.openxmlformats.org/drawingml/2006/main">
              <a:ext uri="{FF2B5EF4-FFF2-40B4-BE49-F238E27FC236}">
                <a16:creationId xmlns:a16="http://schemas.microsoft.com/office/drawing/2014/main" id="{61059FC5-C78D-475E-B889-D1F077D4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Psychiatrists, nurses, psychologists, social workers, and community teams coordinate through one care pathway.</a:t>
            </a:r>
          </a:p>
        </p:txBody>
      </p:sp>
      <p:sp>
        <p:nvSpPr>
          <p:cNvPr id="21" name="component-card-4">
            <a:extLst xmlns:a="http://schemas.openxmlformats.org/drawingml/2006/main">
              <a:ext uri="{FF2B5EF4-FFF2-40B4-BE49-F238E27FC236}">
                <a16:creationId xmlns:a16="http://schemas.microsoft.com/office/drawing/2014/main" id="{CC3BDC5C-691E-47AF-A172-194CBDD0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5429250" cy="18288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2" name="component-badge-4">
            <a:extLst xmlns:a="http://schemas.openxmlformats.org/drawingml/2006/main">
              <a:ext uri="{FF2B5EF4-FFF2-40B4-BE49-F238E27FC236}">
                <a16:creationId xmlns:a16="http://schemas.microsoft.com/office/drawing/2014/main" id="{A9A8FBB6-F639-4EAE-9B31-9CE940C9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3" name="component-badge-text-4">
            <a:extLst xmlns:a="http://schemas.openxmlformats.org/drawingml/2006/main">
              <a:ext uri="{FF2B5EF4-FFF2-40B4-BE49-F238E27FC236}">
                <a16:creationId xmlns:a16="http://schemas.microsoft.com/office/drawing/2014/main" id="{174A509D-79FC-4CBC-82D4-D3C6091A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component-title-4">
            <a:extLst xmlns:a="http://schemas.openxmlformats.org/drawingml/2006/main">
              <a:ext uri="{FF2B5EF4-FFF2-40B4-BE49-F238E27FC236}">
                <a16:creationId xmlns:a16="http://schemas.microsoft.com/office/drawing/2014/main" id="{2EE057B9-7DBC-422A-A557-5E7152A2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Privacy-preserving evaluation layer</a:t>
            </a:r>
          </a:p>
        </p:txBody>
      </p:sp>
      <p:sp>
        <p:nvSpPr>
          <p:cNvPr id="25" name="component-copy-4">
            <a:extLst xmlns:a="http://schemas.openxmlformats.org/drawingml/2006/main">
              <a:ext uri="{FF2B5EF4-FFF2-40B4-BE49-F238E27FC236}">
                <a16:creationId xmlns:a16="http://schemas.microsoft.com/office/drawing/2014/main" id="{72DDD927-0E3D-4F94-B739-0BF5BF5B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197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De-identified data supports dashboards, quality improvement, workforce planning, and future cross-site learning.</a:t>
            </a:r>
          </a:p>
        </p:txBody>
      </p:sp>
    </p:spTree>
    <p:extLst>
      <p:ext uri="{BB962C8B-B14F-4D97-AF65-F5344CB8AC3E}">
        <p14:creationId xmlns:p14="http://schemas.microsoft.com/office/powerpoint/2010/main" val="1037492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7FD61758-A0F4-455E-9E96-1658F74D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75065216-B3EA-4C09-A041-4BF29306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rule-60-60">
            <a:extLst xmlns:a="http://schemas.openxmlformats.org/drawingml/2006/main">
              <a:ext uri="{FF2B5EF4-FFF2-40B4-BE49-F238E27FC236}">
                <a16:creationId xmlns:a16="http://schemas.microsoft.com/office/drawing/2014/main" id="{99814730-F8DE-48FD-95CF-995945CE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4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CC251D34-2BE5-4258-9BFE-5092AC99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 five-phase roadmap makes the concept feasible and governable</a:t>
            </a:r>
          </a:p>
        </p:txBody>
      </p:sp>
      <p:sp>
        <p:nvSpPr>
          <p:cNvPr id="5" name="roadmap-intro">
            <a:extLst xmlns:a="http://schemas.openxmlformats.org/drawingml/2006/main">
              <a:ext uri="{FF2B5EF4-FFF2-40B4-BE49-F238E27FC236}">
                <a16:creationId xmlns:a16="http://schemas.microsoft.com/office/drawing/2014/main" id="{2B3D0704-49A6-45B0-B153-9BFF26B4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The proposal does not assume a single technology launch. It moves from a pilot workflow to a safer shared platform step by step.</a:t>
            </a:r>
          </a:p>
        </p:txBody>
      </p:sp>
      <p:sp>
        <p:nvSpPr>
          <p:cNvPr id="6" name="phase-card-1">
            <a:extLst xmlns:a="http://schemas.openxmlformats.org/drawingml/2006/main">
              <a:ext uri="{FF2B5EF4-FFF2-40B4-BE49-F238E27FC236}">
                <a16:creationId xmlns:a16="http://schemas.microsoft.com/office/drawing/2014/main" id="{72236BED-3E53-42E9-B426-F7ACAA48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095500" cy="3143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71EF6836-EF51-47DA-969A-8ED0D042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8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4C57BA3C-3060-4A06-B6B2-F371292D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Low-cost prototype</a:t>
            </a:r>
          </a:p>
        </p:txBody>
      </p:sp>
      <p:sp>
        <p:nvSpPr>
          <p:cNvPr id="9" name="phase-copy-1">
            <a:extLst xmlns:a="http://schemas.openxmlformats.org/drawingml/2006/main">
              <a:ext uri="{FF2B5EF4-FFF2-40B4-BE49-F238E27FC236}">
                <a16:creationId xmlns:a16="http://schemas.microsoft.com/office/drawing/2014/main" id="{2A7CF580-0B00-4FC9-BEBC-3D9028BB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Pilot the core workflow with Forms, Sheets, Drive, and Apps Script inside real service operations.</a:t>
            </a:r>
          </a:p>
        </p:txBody>
      </p:sp>
      <p:sp>
        <p:nvSpPr>
          <p:cNvPr id="10" name="phase-card-2">
            <a:extLst xmlns:a="http://schemas.openxmlformats.org/drawingml/2006/main">
              <a:ext uri="{FF2B5EF4-FFF2-40B4-BE49-F238E27FC236}">
                <a16:creationId xmlns:a16="http://schemas.microsoft.com/office/drawing/2014/main" id="{A2E1D4AE-B476-4B16-9DFB-7A24486A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2095500" cy="3143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E866440C-BDFF-41E3-8C46-902170A3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12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DDBB272F-2490-497A-8262-FBE82993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Shared data dictionary</a:t>
            </a:r>
          </a:p>
        </p:txBody>
      </p:sp>
      <p:sp>
        <p:nvSpPr>
          <p:cNvPr id="13" name="phase-copy-2">
            <a:extLst xmlns:a="http://schemas.openxmlformats.org/drawingml/2006/main">
              <a:ext uri="{FF2B5EF4-FFF2-40B4-BE49-F238E27FC236}">
                <a16:creationId xmlns:a16="http://schemas.microsoft.com/office/drawing/2014/main" id="{56602E40-5004-4C52-8B69-81661FE7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045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Define common fields for symptoms, psychosocial risk, follow-up status, and referral outcomes.</a:t>
            </a:r>
          </a:p>
        </p:txBody>
      </p:sp>
      <p:sp>
        <p:nvSpPr>
          <p:cNvPr id="14" name="phase-card-3">
            <a:extLst xmlns:a="http://schemas.openxmlformats.org/drawingml/2006/main">
              <a:ext uri="{FF2B5EF4-FFF2-40B4-BE49-F238E27FC236}">
                <a16:creationId xmlns:a16="http://schemas.microsoft.com/office/drawing/2014/main" id="{D0309F7B-AA31-4342-A315-D1D70FE3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2095500" cy="3143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8D19CB38-78E6-4861-9594-81A6D988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6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9E0148D9-0D56-482F-AD10-7EEF619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Secure MDT hub</a:t>
            </a:r>
          </a:p>
        </p:txBody>
      </p:sp>
      <p:sp>
        <p:nvSpPr>
          <p:cNvPr id="17" name="phase-copy-3">
            <a:extLst xmlns:a="http://schemas.openxmlformats.org/drawingml/2006/main">
              <a:ext uri="{FF2B5EF4-FFF2-40B4-BE49-F238E27FC236}">
                <a16:creationId xmlns:a16="http://schemas.microsoft.com/office/drawing/2014/main" id="{323B35FE-3A58-42A6-9201-EED6684F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Add role-based access, consent visibility, minimum-necessary sharing, and audit trails.</a:t>
            </a:r>
          </a:p>
        </p:txBody>
      </p:sp>
      <p:sp>
        <p:nvSpPr>
          <p:cNvPr id="18" name="phase-card-4">
            <a:extLst xmlns:a="http://schemas.openxmlformats.org/drawingml/2006/main">
              <a:ext uri="{FF2B5EF4-FFF2-40B4-BE49-F238E27FC236}">
                <a16:creationId xmlns:a16="http://schemas.microsoft.com/office/drawing/2014/main" id="{841C3602-1C5A-405A-9585-F456EE92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71700"/>
            <a:ext cx="2095500" cy="3143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phase-label-4">
            <a:extLst xmlns:a="http://schemas.openxmlformats.org/drawingml/2006/main">
              <a:ext uri="{FF2B5EF4-FFF2-40B4-BE49-F238E27FC236}">
                <a16:creationId xmlns:a16="http://schemas.microsoft.com/office/drawing/2014/main" id="{D835FB0B-1D32-4D96-944C-B0645673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20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5E6FB9F1-1E44-4421-B710-C953BC7A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Validated AI support</a:t>
            </a:r>
          </a:p>
        </p:txBody>
      </p:sp>
      <p:sp>
        <p:nvSpPr>
          <p:cNvPr id="21" name="phase-copy-4">
            <a:extLst xmlns:a="http://schemas.openxmlformats.org/drawingml/2006/main">
              <a:ext uri="{FF2B5EF4-FFF2-40B4-BE49-F238E27FC236}">
                <a16:creationId xmlns:a16="http://schemas.microsoft.com/office/drawing/2014/main" id="{EFA77E6F-F89D-43A3-AF93-F69871D6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Introduce screening support only after ethics review, local validation, and clinician escalation pathways.</a:t>
            </a:r>
          </a:p>
        </p:txBody>
      </p:sp>
      <p:sp>
        <p:nvSpPr>
          <p:cNvPr id="22" name="phase-card-5">
            <a:extLst xmlns:a="http://schemas.openxmlformats.org/drawingml/2006/main">
              <a:ext uri="{FF2B5EF4-FFF2-40B4-BE49-F238E27FC236}">
                <a16:creationId xmlns:a16="http://schemas.microsoft.com/office/drawing/2014/main" id="{823EE951-E31C-4DAD-ADAD-96AFFC3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71700"/>
            <a:ext cx="2095500" cy="3143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phase-label-5">
            <a:extLst xmlns:a="http://schemas.openxmlformats.org/drawingml/2006/main">
              <a:ext uri="{FF2B5EF4-FFF2-40B4-BE49-F238E27FC236}">
                <a16:creationId xmlns:a16="http://schemas.microsoft.com/office/drawing/2014/main" id="{0FD0582B-F6F7-4938-AC4C-73A6A13B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81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PHASE 5</a:t>
            </a:r>
          </a:p>
        </p:txBody>
      </p:sp>
      <p:sp>
        <p:nvSpPr>
          <p:cNvPr id="24" name="phase-title-5">
            <a:extLst xmlns:a="http://schemas.openxmlformats.org/drawingml/2006/main">
              <a:ext uri="{FF2B5EF4-FFF2-40B4-BE49-F238E27FC236}">
                <a16:creationId xmlns:a16="http://schemas.microsoft.com/office/drawing/2014/main" id="{15B3E52E-C6BC-41BE-811B-EF8FB3A8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Research database</a:t>
            </a:r>
          </a:p>
        </p:txBody>
      </p:sp>
      <p:sp>
        <p:nvSpPr>
          <p:cNvPr id="25" name="phase-copy-5">
            <a:extLst xmlns:a="http://schemas.openxmlformats.org/drawingml/2006/main">
              <a:ext uri="{FF2B5EF4-FFF2-40B4-BE49-F238E27FC236}">
                <a16:creationId xmlns:a16="http://schemas.microsoft.com/office/drawing/2014/main" id="{703E673F-D653-4265-8804-9A71E852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0045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Expand to de-identified analytics for quality improvement, evaluation, and cross-site learning.</a:t>
            </a:r>
          </a:p>
        </p:txBody>
      </p:sp>
      <p:sp>
        <p:nvSpPr>
          <p:cNvPr id="26" name="roadmap-callout">
            <a:extLst xmlns:a="http://schemas.openxmlformats.org/drawingml/2006/main">
              <a:ext uri="{FF2B5EF4-FFF2-40B4-BE49-F238E27FC236}">
                <a16:creationId xmlns:a16="http://schemas.microsoft.com/office/drawing/2014/main" id="{DF85D2A8-77EC-4056-A7AF-AEEB2BC8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roadmap-callout-text">
            <a:extLst xmlns:a="http://schemas.openxmlformats.org/drawingml/2006/main">
              <a:ext uri="{FF2B5EF4-FFF2-40B4-BE49-F238E27FC236}">
                <a16:creationId xmlns:a16="http://schemas.microsoft.com/office/drawing/2014/main" id="{F4205917-BC9D-43FC-B3B0-BE18B4B4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5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Human safeguards travel with every phase: clinician review of high-risk flags, role-based access, visible consent, and traceable audit trails.</a:t>
            </a:r>
          </a:p>
        </p:txBody>
      </p:sp>
    </p:spTree>
    <p:extLst>
      <p:ext uri="{BB962C8B-B14F-4D97-AF65-F5344CB8AC3E}">
        <p14:creationId xmlns:p14="http://schemas.microsoft.com/office/powerpoint/2010/main" val="1634768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5">
            <a:extLst xmlns:a="http://schemas.openxmlformats.org/drawingml/2006/main">
              <a:ext uri="{FF2B5EF4-FFF2-40B4-BE49-F238E27FC236}">
                <a16:creationId xmlns:a16="http://schemas.microsoft.com/office/drawing/2014/main" id="{2753DD6D-7089-4715-BBE0-01F49E7A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IMPACT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5CE10CB-F1A2-4D27-9632-B754FE7C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rule-60-60">
            <a:extLst xmlns:a="http://schemas.openxmlformats.org/drawingml/2006/main">
              <a:ext uri="{FF2B5EF4-FFF2-40B4-BE49-F238E27FC236}">
                <a16:creationId xmlns:a16="http://schemas.microsoft.com/office/drawing/2014/main" id="{ABFB5BA0-326F-451C-A18E-657CC3A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4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ADB8C96C-2826-4806-8982-24B898C4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The model is practical, measurable, and globally relevant</a:t>
            </a:r>
          </a:p>
        </p:txBody>
      </p:sp>
      <p:sp>
        <p:nvSpPr>
          <p:cNvPr id="5" name="impact-intro">
            <a:extLst xmlns:a="http://schemas.openxmlformats.org/drawingml/2006/main">
              <a:ext uri="{FF2B5EF4-FFF2-40B4-BE49-F238E27FC236}">
                <a16:creationId xmlns:a16="http://schemas.microsoft.com/office/drawing/2014/main" id="{68D2713A-1CE6-4214-9BB7-6578277F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It begins with a low-cost pilot, but its structure already aligns with WHO priorities for governance, community care, and learning health systems.</a:t>
            </a:r>
          </a:p>
        </p:txBody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EFDF7B6E-93FF-4EDA-BB06-7161501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66700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metric-1-value">
            <a:extLst xmlns:a="http://schemas.openxmlformats.org/drawingml/2006/main">
              <a:ext uri="{FF2B5EF4-FFF2-40B4-BE49-F238E27FC236}">
                <a16:creationId xmlns:a16="http://schemas.microsoft.com/office/drawing/2014/main" id="{DC81F23A-673F-42A5-ADBD-374BAE27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8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1978F71E-C9EF-4786-A122-88C07224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core components</a:t>
            </a:r>
          </a:p>
        </p:txBody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483DEA36-46DE-44F8-B9AF-D4FC8525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66700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metric-2-value">
            <a:extLst xmlns:a="http://schemas.openxmlformats.org/drawingml/2006/main">
              <a:ext uri="{FF2B5EF4-FFF2-40B4-BE49-F238E27FC236}">
                <a16:creationId xmlns:a16="http://schemas.microsoft.com/office/drawing/2014/main" id="{49ADCDF7-8C51-4AD1-B992-C18B65B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050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1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B938115A-A9A9-4301-81B6-F1D0C2E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patient journey stages</a:t>
            </a:r>
          </a:p>
        </p:txBody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B146C783-17D1-4666-A8C4-56BCA474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66700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metric-3-value">
            <a:extLst xmlns:a="http://schemas.openxmlformats.org/drawingml/2006/main">
              <a:ext uri="{FF2B5EF4-FFF2-40B4-BE49-F238E27FC236}">
                <a16:creationId xmlns:a16="http://schemas.microsoft.com/office/drawing/2014/main" id="{8335D6DB-9963-46F9-BCAB-C30E8233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52A8CCDD-B9E3-4BF1-95B2-672CC9D1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roadmap phases</a:t>
            </a:r>
          </a:p>
        </p:txBody>
      </p:sp>
      <p:sp>
        <p:nvSpPr>
          <p:cNvPr id="15" name="metric-4">
            <a:extLst xmlns:a="http://schemas.openxmlformats.org/drawingml/2006/main">
              <a:ext uri="{FF2B5EF4-FFF2-40B4-BE49-F238E27FC236}">
                <a16:creationId xmlns:a16="http://schemas.microsoft.com/office/drawing/2014/main" id="{99C2CBC8-247A-4CD1-B1E6-BAFC9E2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66700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6" name="metric-4-value">
            <a:extLst xmlns:a="http://schemas.openxmlformats.org/drawingml/2006/main">
              <a:ext uri="{FF2B5EF4-FFF2-40B4-BE49-F238E27FC236}">
                <a16:creationId xmlns:a16="http://schemas.microsoft.com/office/drawing/2014/main" id="{163F92AB-4C87-4327-8D57-04D214E5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metric-4-label">
            <a:extLst xmlns:a="http://schemas.openxmlformats.org/drawingml/2006/main">
              <a:ext uri="{FF2B5EF4-FFF2-40B4-BE49-F238E27FC236}">
                <a16:creationId xmlns:a16="http://schemas.microsoft.com/office/drawing/2014/main" id="{AFB54581-0C7E-45EA-A720-3F162A9F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656C"/>
                </a:solidFill>
                <a:latin typeface="Helvetica Neue"/>
                <a:ea typeface="Helvetica Neue"/>
                <a:cs typeface="Helvetica Neue"/>
              </a:rPr>
              <a:t>WHO objectives aligned</a:t>
            </a:r>
          </a:p>
        </p:txBody>
      </p:sp>
      <p:sp>
        <p:nvSpPr>
          <p:cNvPr id="18" name="impact-outcomes">
            <a:extLst xmlns:a="http://schemas.openxmlformats.org/drawingml/2006/main">
              <a:ext uri="{FF2B5EF4-FFF2-40B4-BE49-F238E27FC236}">
                <a16:creationId xmlns:a16="http://schemas.microsoft.com/office/drawing/2014/main" id="{E14E33A0-BF5A-4002-A546-33D712D3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5334000" cy="2152650"/>
          </a:xfrm>
          <a:prstGeom xmlns:a="http://schemas.openxmlformats.org/drawingml/2006/main" prst="roundRect">
            <a:avLst>
              <a:gd name="adj" fmla="val 973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impact-outcomes-title">
            <a:extLst xmlns:a="http://schemas.openxmlformats.org/drawingml/2006/main">
              <a:ext uri="{FF2B5EF4-FFF2-40B4-BE49-F238E27FC236}">
                <a16:creationId xmlns:a16="http://schemas.microsoft.com/office/drawing/2014/main" id="{22890DF8-E573-4305-B47C-4BC5FBA0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Expected outcomes</a:t>
            </a:r>
          </a:p>
        </p:txBody>
      </p:sp>
      <p:sp>
        <p:nvSpPr>
          <p:cNvPr id="20" name="impact-outcomes-bullets">
            <a:extLst xmlns:a="http://schemas.openxmlformats.org/drawingml/2006/main">
              <a:ext uri="{FF2B5EF4-FFF2-40B4-BE49-F238E27FC236}">
                <a16:creationId xmlns:a16="http://schemas.microsoft.com/office/drawing/2014/main" id="{7C24B9F5-435F-4A1A-BC53-0D636BEC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4021"/>
          </a:bodyPr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Fewer repeated assessments and earlier recognition of urgent need.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Clearer prioritization and less repetitive documentation for multidisciplinary teams.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Better follow-up completion, referral closure, and service learning from routine data.</a:t>
            </a:r>
          </a:p>
        </p:txBody>
      </p:sp>
      <p:sp>
        <p:nvSpPr>
          <p:cNvPr id="21" name="impact-scale">
            <a:extLst xmlns:a="http://schemas.openxmlformats.org/drawingml/2006/main">
              <a:ext uri="{FF2B5EF4-FFF2-40B4-BE49-F238E27FC236}">
                <a16:creationId xmlns:a16="http://schemas.microsoft.com/office/drawing/2014/main" id="{FFF86B8F-66E0-4B19-8EFD-A9604398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5334000" cy="2152650"/>
          </a:xfrm>
          <a:prstGeom xmlns:a="http://schemas.openxmlformats.org/drawingml/2006/main" prst="roundRect">
            <a:avLst>
              <a:gd name="adj" fmla="val 973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2" name="impact-scale-title">
            <a:extLst xmlns:a="http://schemas.openxmlformats.org/drawingml/2006/main">
              <a:ext uri="{FF2B5EF4-FFF2-40B4-BE49-F238E27FC236}">
                <a16:creationId xmlns:a16="http://schemas.microsoft.com/office/drawing/2014/main" id="{401F4CDF-C3B2-44E0-8A65-B2ECAC66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Why it can scale</a:t>
            </a:r>
          </a:p>
        </p:txBody>
      </p:sp>
      <p:sp>
        <p:nvSpPr>
          <p:cNvPr id="23" name="impact-scale-bullets">
            <a:extLst xmlns:a="http://schemas.openxmlformats.org/drawingml/2006/main">
              <a:ext uri="{FF2B5EF4-FFF2-40B4-BE49-F238E27FC236}">
                <a16:creationId xmlns:a16="http://schemas.microsoft.com/office/drawing/2014/main" id="{228C0C74-EB5F-4763-A556-A33EBC92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148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4021"/>
          </a:bodyPr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starts with Google Apps Script, Forms, Sheets, and Drive in resource-limited settings.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Later phases add RBAC, consent, audit trails, and validated AI support under professional accountability.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De-identified analytics enable cross-site learning without unnecessary exposure of sensitive records.</a:t>
            </a:r>
          </a:p>
        </p:txBody>
      </p:sp>
      <p:sp>
        <p:nvSpPr>
          <p:cNvPr id="24" name="impact-footer">
            <a:extLst xmlns:a="http://schemas.openxmlformats.org/drawingml/2006/main">
              <a:ext uri="{FF2B5EF4-FFF2-40B4-BE49-F238E27FC236}">
                <a16:creationId xmlns:a16="http://schemas.microsoft.com/office/drawing/2014/main" id="{A9DB3789-68EF-4CDB-9B31-9F21AE4F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Start local. Scale responsibly. Keep the human touch.</a:t>
            </a:r>
          </a:p>
        </p:txBody>
      </p:sp>
    </p:spTree>
    <p:extLst>
      <p:ext uri="{BB962C8B-B14F-4D97-AF65-F5344CB8AC3E}">
        <p14:creationId xmlns:p14="http://schemas.microsoft.com/office/powerpoint/2010/main" val="724949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2026-07-08T00:34:39.2950000Z</dcterms:created>
  <dcterms:modified xsi:type="dcterms:W3CDTF">2026-07-08T00:34:39.2950000Z</dcterms:modified>
</coreProperties>
</file>